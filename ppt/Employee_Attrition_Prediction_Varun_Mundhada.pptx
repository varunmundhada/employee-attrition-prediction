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901.xml" ContentType="application/vnd.openxmlformats-officedocument.presentationml.notesSlide+xml"/>
  <Override PartName="/ppt/notesSlides/notesSlide903.xml" ContentType="application/vnd.openxmlformats-officedocument.presentationml.notesSlide+xml"/>
  <Override PartName="/ppt/notesSlides/notesSlide905.xml" ContentType="application/vnd.openxmlformats-officedocument.presentationml.notesSlide+xml"/>
  <Override PartName="/ppt/notesSlides/notesSlide910.xml" ContentType="application/vnd.openxmlformats-officedocument.presentationml.notesSlide+xml"/>
  <Override PartName="/ppt/notesSlides/notesSlide9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52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258" r:id="rId4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10"/>
    <p:sldId id="282" r:id="rId9"/>
    <p:sldId id="283" r:id="rId8"/>
    <p:sldId id="284" r:id="rId7"/>
    <p:sldId id="285" r:id="rId6"/>
    <p:sldId id="26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6" Type="http://schemas.openxmlformats.org/officeDocument/2006/relationships/slide" Target="slides/slide919.xml"/><Relationship Id="rId7" Type="http://schemas.openxmlformats.org/officeDocument/2006/relationships/slide" Target="slides/slide918.xml"/><Relationship Id="rId8" Type="http://schemas.openxmlformats.org/officeDocument/2006/relationships/slide" Target="slides/slide917.xml"/><Relationship Id="rId9" Type="http://schemas.openxmlformats.org/officeDocument/2006/relationships/slide" Target="slides/slide916.xml"/><Relationship Id="rId10" Type="http://schemas.openxmlformats.org/officeDocument/2006/relationships/slide" Target="slides/slide915.xml"/><Relationship Id="rId11" Type="http://schemas.openxmlformats.org/officeDocument/2006/relationships/slide" Target="slides/slide901.xml"/><Relationship Id="rId12" Type="http://schemas.openxmlformats.org/officeDocument/2006/relationships/slide" Target="slides/slide902.xml"/><Relationship Id="rId13" Type="http://schemas.openxmlformats.org/officeDocument/2006/relationships/slide" Target="slides/slide903.xml"/><Relationship Id="rId14" Type="http://schemas.openxmlformats.org/officeDocument/2006/relationships/slide" Target="slides/slide904.xml"/><Relationship Id="rId15" Type="http://schemas.openxmlformats.org/officeDocument/2006/relationships/slide" Target="slides/slide905.xml"/><Relationship Id="rId16" Type="http://schemas.openxmlformats.org/officeDocument/2006/relationships/slide" Target="slides/slide906.xml"/><Relationship Id="rId17" Type="http://schemas.openxmlformats.org/officeDocument/2006/relationships/slide" Target="slides/slide907.xml"/><Relationship Id="rId18" Type="http://schemas.openxmlformats.org/officeDocument/2006/relationships/slide" Target="slides/slide908.xml"/><Relationship Id="rId19" Type="http://schemas.openxmlformats.org/officeDocument/2006/relationships/slide" Target="slides/slide909.xml"/><Relationship Id="rId20" Type="http://schemas.openxmlformats.org/officeDocument/2006/relationships/slide" Target="slides/slide910.xml"/><Relationship Id="rId21" Type="http://schemas.openxmlformats.org/officeDocument/2006/relationships/slide" Target="slides/slide911.xml"/><Relationship Id="rId22" Type="http://schemas.openxmlformats.org/officeDocument/2006/relationships/slide" Target="slides/slide912.xml"/><Relationship Id="rId23" Type="http://schemas.openxmlformats.org/officeDocument/2006/relationships/slide" Target="slides/slide913.xml"/><Relationship Id="rId24" Type="http://schemas.openxmlformats.org/officeDocument/2006/relationships/slide" Target="slides/slide914.xml"/><Relationship Id="rId25" Type="http://schemas.openxmlformats.org/officeDocument/2006/relationships/slide" Target="slides/slide5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1.xml"/></Relationships>
</file>

<file path=ppt/notesSlides/_rels/notesSlide9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3.xml"/></Relationships>
</file>

<file path=ppt/notesSlides/_rels/notesSlide9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5.xml"/></Relationships>
</file>

<file path=ppt/notesSlides/_rels/notesSlide9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0.xml"/></Relationships>
</file>

<file path=ppt/notesSlides/_rels/notesSlide9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with why attrition matters: cost of replacement, knowledge loss. HR usually reacts too late. Our system predicts risk early and explains it.</a:t>
            </a:r>
          </a:p>
        </p:txBody>
      </p:sp>
    </p:spTree>
  </p:cSld>
  <p:clrMapOvr>
    <a:masterClrMapping/>
  </p:clrMapOvr>
</p:notes>
</file>

<file path=ppt/notesSlides/notesSlide9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literature agrees on predictors and on tree ensembles, but rarely builds on a big-data engine, rarely keeps tuning separate from the test, and rarely delivers a usable app.</a:t>
            </a:r>
          </a:p>
        </p:txBody>
      </p:sp>
    </p:spTree>
  </p:cSld>
  <p:clrMapOvr>
    <a:masterClrMapping/>
  </p:clrMapOvr>
</p:notes>
</file>

<file path=ppt/notesSlides/notesSlide9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method: GROUP BY aggregations in Spark SQL. Red bars are above the company average.</a:t>
            </a:r>
          </a:p>
        </p:txBody>
      </p:sp>
    </p:spTree>
  </p:cSld>
  <p:clrMapOvr>
    <a:masterClrMapping/>
  </p:clrMapOvr>
</p:notes>
</file>

<file path=ppt/notesSlides/notesSlide9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Best model Logistic Regression. Explain AUC = probability a random leaver is ranked above a random stayer.</a:t>
            </a:r>
          </a:p>
        </p:txBody>
      </p:sp>
    </p:spTree>
  </p:cSld>
  <p:clrMapOvr>
    <a:masterClrMapping/>
  </p:clrMapOvr>
</p:notes>
</file>

<file path=ppt/notesSlides/notesSlide9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demo: open the app (run_app.bat), show dashboard filters, then predict one high-risk employee.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6d8240beb_2_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276d8240beb_2_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g276d8240beb_2_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276d8240beb_2_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g276d8240beb_2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6d8240beb_2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276d8240beb_2_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g276d8240beb_2_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g276d8240beb_2_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76d8240beb_2_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276d8240beb_2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6d8240beb_2_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276d8240beb_2_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g276d8240beb_2_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g276d8240beb_2_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g276d8240beb_2_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g276d8240beb_2_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g276d8240beb_2_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276d8240beb_2_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6d8240beb_2_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276d8240beb_2_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276d8240beb_2_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276d8240beb_2_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6d8240beb_2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276d8240beb_2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276d8240beb_2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6d8240beb_2_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g276d8240beb_2_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6" name="Google Shape;126;g276d8240beb_2_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7" name="Google Shape;127;g276d8240beb_2_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276d8240beb_2_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276d8240beb_2_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6d8240beb_2_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276d8240beb_2_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g276d8240beb_2_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g276d8240beb_2_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276d8240beb_2_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276d8240beb_2_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6d8240beb_2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276d8240beb_2_6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g276d8240beb_2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276d8240beb_2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276d8240beb_2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6d8240beb_2_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276d8240beb_2_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g276d8240beb_2_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276d8240beb_2_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276d8240beb_2_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0085-485E-3D41-9E8C-8B5FF8B68F4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4F91-2D9D-C341-9D13-C4E1D5ACAB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6d8240beb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2" name="Google Shape;82;g276d8240beb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3" name="Google Shape;83;g276d8240beb_2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4" name="Google Shape;84;g276d8240beb_2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5" name="Google Shape;85;g276d8240beb_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1.xml"/></Relationships>
</file>

<file path=ppt/slides/_rels/slide9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3.xml"/></Relationships>
</file>

<file path=ppt/slides/_rels/slide9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9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9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0.xml"/><Relationship Id="rId3" Type="http://schemas.openxmlformats.org/officeDocument/2006/relationships/image" Target="../media/image18.png"/></Relationships>
</file>

<file path=ppt/slides/_rels/slide9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9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9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9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9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9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"/>
          <p:cNvSpPr txBox="1"/>
          <p:nvPr/>
        </p:nvSpPr>
        <p:spPr>
          <a:xfrm>
            <a:off x="2618502" y="6005999"/>
            <a:ext cx="657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rgbClr val="0000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Symbiosis Institute of Technology, Nagpur Campus (SIT-N)</a:t>
            </a:r>
            <a:endParaRPr sz="1800" b="1" i="0" u="none" strike="noStrike" cap="none">
              <a:solidFill>
                <a:srgbClr val="00009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1133104" y="1289446"/>
            <a:ext cx="10082583" cy="156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eaLnBrk="0" hangingPunct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 eaLnBrk="0" hangingPunct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CA3: Project Submission and Presentation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Attrition Prediction using HR Analytics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(Industry Domain: HR Analytics)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 2026-27</a:t>
            </a:r>
          </a:p>
        </p:txBody>
      </p:sp>
      <p:sp>
        <p:nvSpPr>
          <p:cNvPr id="155" name="Google Shape;155;p1"/>
          <p:cNvSpPr txBox="1"/>
          <p:nvPr/>
        </p:nvSpPr>
        <p:spPr>
          <a:xfrm>
            <a:off x="216513" y="3479899"/>
            <a:ext cx="38625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dirty="0">
                <a:solidFill>
                  <a:srgbClr val="0000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Presented By: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dirty="0">
                <a:solidFill>
                  <a:srgbClr val="0000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Name: Varun Mundhada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dirty="0">
                <a:solidFill>
                  <a:srgbClr val="0000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PRN: 23070521184</a:t>
            </a:r>
            <a:endParaRPr sz="2000" dirty="0">
              <a:solidFill>
                <a:srgbClr val="00009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 strike="noStrike" cap="none" dirty="0">
              <a:solidFill>
                <a:srgbClr val="00009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56" name="Google Shape;156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157" name="Google Shape;157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158" name="Google Shape;158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159" name="Google Shape;159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0" name="Google Shape;160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1" name="Google Shape;161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2" name="Google Shape;162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3" name="Google Shape;163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4" name="Google Shape;164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5" name="Google Shape;165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6" name="Google Shape;166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8" name="Google Shape;168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9" name="Google Shape;169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1" name="Google Shape;171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8" name="Google Shape;188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9" name="Google Shape;189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</p:grpSp>
      <p:pic>
        <p:nvPicPr>
          <p:cNvPr id="194" name="Google Shape;194;p1"/>
          <p:cNvPicPr preferRelativeResize="0"/>
          <p:nvPr/>
        </p:nvPicPr>
        <p:blipFill rotWithShape="1">
          <a:blip r:embed="rId3"/>
          <a:srcRect l="2498" t="10584" r="1906" b="14835"/>
          <a:stretch>
            <a:fillRect/>
          </a:stretch>
        </p:blipFill>
        <p:spPr>
          <a:xfrm>
            <a:off x="5014703" y="6416910"/>
            <a:ext cx="7150100" cy="4313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"/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96" name="Google Shape;196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pic>
        <p:nvPicPr>
          <p:cNvPr id="232" name="Google Shape;232;p1" descr="SCSCR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112500" y="62669"/>
            <a:ext cx="1047277" cy="10742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234" name="Google Shape;234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235" name="Google Shape;235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236" name="Google Shape;236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37" name="Google Shape;237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38" name="Google Shape;238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39" name="Google Shape;239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0" name="Google Shape;240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1" name="Google Shape;241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2" name="Google Shape;242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3" name="Google Shape;243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4" name="Google Shape;244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5" name="Google Shape;245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6" name="Google Shape;246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7" name="Google Shape;247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8" name="Google Shape;248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9" name="Google Shape;249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0" name="Google Shape;250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1" name="Google Shape;251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2" name="Google Shape;252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3" name="Google Shape;253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4" name="Google Shape;254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5" name="Google Shape;255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6" name="Google Shape;256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7" name="Google Shape;257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2" name="Google Shape;262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3" name="Google Shape;263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8" name="Google Shape;268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9" name="Google Shape;269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70" name="Google Shape;270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</p:grpSp>
      <p:grpSp>
        <p:nvGrpSpPr>
          <p:cNvPr id="271" name="Google Shape;271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272" name="Google Shape;272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307" name="Google Shape;307;p1"/>
          <p:cNvSpPr txBox="1"/>
          <p:nvPr/>
        </p:nvSpPr>
        <p:spPr>
          <a:xfrm>
            <a:off x="8002701" y="3495461"/>
            <a:ext cx="368783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dirty="0">
                <a:solidFill>
                  <a:srgbClr val="0000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Technology:</a:t>
            </a:r>
            <a:endParaRPr sz="2000" dirty="0">
              <a:solidFill>
                <a:srgbClr val="00009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sz="2000">
                <a:solidFill>
                  <a:srgbClr val="000099"/>
                </a:solidFill>
                <a:latin typeface="Times New Roman"/>
              </a:rPr>
              <a:t>Apache Spark, MLlib, Streamlit</a:t>
            </a:r>
            <a:endParaRPr sz="2000" dirty="0">
              <a:solidFill>
                <a:srgbClr val="00009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08" name="Picture 3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691" y="165315"/>
            <a:ext cx="10025540" cy="488193"/>
          </a:xfrm>
          <a:prstGeom prst="rect">
            <a:avLst/>
          </a:prstGeom>
        </p:spPr>
      </p:pic>
      <p:pic>
        <p:nvPicPr>
          <p:cNvPr id="309" name="Picture 3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115" y="83039"/>
            <a:ext cx="751095" cy="830622"/>
          </a:xfrm>
          <a:prstGeom prst="rect">
            <a:avLst/>
          </a:prstGeom>
        </p:spPr>
      </p:pic>
      <p:sp>
        <p:nvSpPr>
          <p:cNvPr id="231" name="Google Shape;307;p1"/>
          <p:cNvSpPr txBox="1"/>
          <p:nvPr/>
        </p:nvSpPr>
        <p:spPr>
          <a:xfrm>
            <a:off x="3878260" y="4876188"/>
            <a:ext cx="575037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dirty="0">
                <a:solidFill>
                  <a:srgbClr val="0000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Project Guide: Dr. Priya Dasarwar</a:t>
            </a:r>
            <a:endParaRPr sz="2000" dirty="0">
              <a:solidFill>
                <a:srgbClr val="00009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773" y="277216"/>
            <a:ext cx="10140087" cy="53631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773" y="1005648"/>
            <a:ext cx="10515600" cy="4794234"/>
          </a:xfrm>
        </p:spPr>
        <p:txBody>
          <a:bodyPr>
            <a:normAutofit fontScale="90000" lnSpcReduction="20000"/>
          </a:bodyPr>
          <a:lstStyle/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Dataset &amp; Exploratory Analysis (Spark SQL)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Methodology &amp; System Architecture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Spark MLlib Pipeline &amp; Model Training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Results &amp; Model Comparison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Feature Importance &amp; Scalability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Web Application Demo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Business Insights, Conclusion &amp; Future Scope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20603050405020304" pitchFamily="18" charset="0"/>
                <a:cs typeface="Times New Roman" panose="02020603050405020304" pitchFamily="18" charset="0"/>
              </a:rPr>
              <a:t>GitHub Repository &amp; References</a:t>
            </a:r>
          </a:p>
        </p:txBody>
      </p:sp>
      <p:pic>
        <p:nvPicPr>
          <p:cNvPr id="4" name="Google Shape;461;g276d8240beb_2_429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785927" y="27613"/>
            <a:ext cx="1378885" cy="590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312;g276d8240beb_2_4298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6" name="Google Shape;313;g276d8240beb_2_4298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7" name="Google Shape;314;g276d8240beb_2_4298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8" name="Google Shape;315;g276d8240beb_2_4298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9" name="Google Shape;316;g276d8240beb_2_4298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0" name="Google Shape;317;g276d8240beb_2_4298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1" name="Google Shape;318;g276d8240beb_2_4298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2" name="Google Shape;319;g276d8240beb_2_4298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3" name="Google Shape;320;g276d8240beb_2_4298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4" name="Google Shape;321;g276d8240beb_2_4298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5" name="Google Shape;322;g276d8240beb_2_4298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6" name="Google Shape;323;g276d8240beb_2_4298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7" name="Google Shape;324;g276d8240beb_2_4298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" name="Google Shape;325;g276d8240beb_2_4298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9" name="Google Shape;326;g276d8240beb_2_4298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0" name="Google Shape;327;g276d8240beb_2_4298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1" name="Google Shape;328;g276d8240beb_2_4298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2" name="Google Shape;329;g276d8240beb_2_4298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3" name="Google Shape;330;g276d8240beb_2_4298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" name="Google Shape;331;g276d8240beb_2_4298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" name="Google Shape;332;g276d8240beb_2_4298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6" name="Google Shape;333;g276d8240beb_2_4298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7" name="Google Shape;334;g276d8240beb_2_4298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8" name="Google Shape;335;g276d8240beb_2_4298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9" name="Google Shape;336;g276d8240beb_2_4298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0" name="Google Shape;337;g276d8240beb_2_4298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1" name="Google Shape;338;g276d8240beb_2_4298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2" name="Google Shape;339;g276d8240beb_2_4298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3" name="Google Shape;340;g276d8240beb_2_4298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4" name="Google Shape;341;g276d8240beb_2_4298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5" name="Google Shape;342;g276d8240beb_2_4298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6" name="Google Shape;343;g276d8240beb_2_4298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7" name="Google Shape;344;g276d8240beb_2_4298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8" name="Google Shape;345;g276d8240beb_2_4298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9" name="Google Shape;346;g276d8240beb_2_4298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0" name="Google Shape;347;g276d8240beb_2_4298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1" name="Google Shape;348;g276d8240beb_2_4298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2" name="Google Shape;349;g276d8240beb_2_4298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</p:grpSp>
      <p:grpSp>
        <p:nvGrpSpPr>
          <p:cNvPr id="43" name="Google Shape;351;g276d8240beb_2_4298"/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44" name="Google Shape;352;g276d8240beb_2_4298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5" name="Google Shape;353;g276d8240beb_2_4298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" name="Google Shape;354;g276d8240beb_2_4298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" name="Google Shape;355;g276d8240beb_2_4298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" name="Google Shape;356;g276d8240beb_2_4298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9" name="Google Shape;357;g276d8240beb_2_4298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0" name="Google Shape;358;g276d8240beb_2_4298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1" name="Google Shape;359;g276d8240beb_2_4298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" name="Google Shape;360;g276d8240beb_2_4298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3" name="Google Shape;361;g276d8240beb_2_4298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4" name="Google Shape;362;g276d8240beb_2_4298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5" name="Google Shape;363;g276d8240beb_2_4298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6" name="Google Shape;364;g276d8240beb_2_4298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7" name="Google Shape;365;g276d8240beb_2_4298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8" name="Google Shape;366;g276d8240beb_2_4298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9" name="Google Shape;367;g276d8240beb_2_4298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0" name="Google Shape;368;g276d8240beb_2_4298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1" name="Google Shape;369;g276d8240beb_2_4298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2" name="Google Shape;370;g276d8240beb_2_4298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3" name="Google Shape;371;g276d8240beb_2_4298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4" name="Google Shape;372;g276d8240beb_2_4298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5" name="Google Shape;373;g276d8240beb_2_4298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6" name="Google Shape;374;g276d8240beb_2_4298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7" name="Google Shape;375;g276d8240beb_2_4298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8" name="Google Shape;376;g276d8240beb_2_4298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9" name="Google Shape;377;g276d8240beb_2_4298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0" name="Google Shape;378;g276d8240beb_2_4298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1" name="Google Shape;379;g276d8240beb_2_4298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2" name="Google Shape;380;g276d8240beb_2_4298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3" name="Google Shape;381;g276d8240beb_2_4298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4" name="Google Shape;382;g276d8240beb_2_4298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5" name="Google Shape;383;g276d8240beb_2_4298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6" name="Google Shape;384;g276d8240beb_2_4298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7" name="Google Shape;385;g276d8240beb_2_4298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8" name="Google Shape;386;g276d8240beb_2_4298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2871527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Thank You…..</a:t>
            </a:r>
          </a:p>
        </p:txBody>
      </p:sp>
    </p:spTree>
  </p:cSld>
  <p:clrMapOvr>
    <a:masterClrMapping/>
  </p:clrMapOvr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Why employee attrition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1F1F"/>
                </a:solidFill>
                <a:latin typeface="Arial"/>
              </a:rPr>
              <a:t>•  </a:t>
            </a:r>
            <a:r>
              <a:rPr sz="1500" b="0">
                <a:solidFill>
                  <a:srgbClr val="1F1F1F"/>
                </a:solidFill>
                <a:latin typeface="Arial"/>
              </a:rPr>
              <a:t>Every resignation costs the organisation hiring, onboarding and training spend, months of lost productivity and the knowledge that leaves with the employee.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1F1F"/>
                </a:solidFill>
                <a:latin typeface="Arial"/>
              </a:rPr>
              <a:t>•  </a:t>
            </a:r>
            <a:r>
              <a:rPr sz="1500" b="0">
                <a:solidFill>
                  <a:srgbClr val="1F1F1F"/>
                </a:solidFill>
                <a:latin typeface="Arial"/>
              </a:rPr>
              <a:t>HR usually learns that someone is unhappy only when the resignation arrives — too late to act.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1F1F"/>
                </a:solidFill>
                <a:latin typeface="Arial"/>
              </a:rPr>
              <a:t>•  </a:t>
            </a:r>
            <a:r>
              <a:rPr sz="1500" b="0">
                <a:solidFill>
                  <a:srgbClr val="1F1F1F"/>
                </a:solidFill>
                <a:latin typeface="Arial"/>
              </a:rPr>
              <a:t>HR systems already hold the data needed to see the risk earlier: role, pay, overtime, travel, tenure, promotions and satisfaction surveys.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375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1F1F"/>
                </a:solidFill>
                <a:latin typeface="Arial"/>
              </a:rPr>
              <a:t>Given the HR records of an organisation's employees, predict which employees are likely to leave, identify the factors driving each person's risk, and present this to HR through an easy-to-use application — built on a scalable big-data pipeline (Apache Spark).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572000"/>
          <a:ext cx="109728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926080"/>
                <a:gridCol w="256032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Type of problem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Platform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Output for HR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Supervised binary classification (Left / Stayed), imbalanced classes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IBM HR Analytics — 1,470 employees, 35 attributes, 16.1% left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Apache Spark 3.5: PySpark, Spark SQL, MLlib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Risk score, risk band, drivers and suggested actions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Objectives &amp; Scope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960120"/>
          <a:ext cx="10972800" cy="352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  <a:gridCol w="5120640"/>
                <a:gridCol w="539496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Delivered as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Analyse the factors associated with attrition using Apache Spark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Spark SQL analysis of 12 factors + MLlib correlation matrix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Build a reusable Spark MLlib feature pipeline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6-stage pipeline with in-pipeline feature engineering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Train, tune and compare four classifiers with class-imbalance handling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LR, Decision Tree, Random Forest, GBT — 5-fold CV, class weights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Select model and threshold without touching the test set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Stratified 85 / 15 split; CV + out-of-fold tuning; test used once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Explain every prediction in HR terms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What-if risk drivers mapped to retention actions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Deploy a working application and prove scalability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Streamlit web app; pipeline run on ~735k rows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709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74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1F1F"/>
                </a:solidFill>
                <a:latin typeface="Arial"/>
              </a:rPr>
              <a:t>End-to-end: data analysis → model development → evaluation → explanation → deployment → documentation. Uses a public, anonymised dataset; Spark runs in local mode, and the same code runs on a cluster unchanged.</a:t>
            </a:r>
          </a:p>
        </p:txBody>
      </p:sp>
    </p:spTree>
  </p:cSld>
  <p:clrMapOvr>
    <a:masterClrMapping/>
  </p:clrMapOvr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Literature Review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3840480"/>
                <a:gridCol w="4297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Study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Key finding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Saradhi &amp; Palshikar (2011), Expert Syst. Appl.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Employee churn as classification; NB, SVM, LR, DT, RF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SVM best; models must be judged on the minority (leaver) class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Alao &amp; Adeyemo (2013)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Decision trees: C4.5, C5.0, REPTree, CART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Readable rules linking salary, length of service and age to attrition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Punnoose &amp; Ajit (2016), IJARAI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Seven classifiers incl. XGBoost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Gradient boosting best and robust to noisy HR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Zhao et al. (2019), IntelliSys / Springer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Ten algorithms on small, medium, large HR data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Boosted-tree ensembles most reliable across data sizes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Fallucchi et al. (2020), Computers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IBM HR dataset; six classifiers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Overtime, income, total working years and age are key predictors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Yahia et al. (2021), IEEE Access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"Big data to deep data" people analytics; ensembles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Ensembles with feature selection improve attrition prediction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Zaharia et al. (2016); Meng et al. (2016)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Apache Spark and Spark MLlib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Unified in-memory engine; ML pipelines that scale 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09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Research gap addressed by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Most studies stop at a notebook score on one machine. This project (i) builds on a scalable big-data engine, (ii) keeps model / threshold selection separate from the final test, (iii) explains each prediction as HR actions, and (iv) delivers a working application.</a:t>
            </a:r>
          </a:p>
        </p:txBody>
      </p:sp>
    </p:spTree>
  </p:cSld>
  <p:clrMapOvr>
    <a:masterClrMapping/>
  </p:clrMapOvr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Dataset Description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59436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Attributes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Attrition (Yes / No)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Personal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Age, Gender, MaritalStatus, DistanceFromHome, Education, EducationField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Job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Department, JobRole, JobLevel, JobInvolvement, BusinessTravel, OverTime, PerformanceRating, TrainingTimesLastYear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Compensation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MonthlyIncome, DailyRate, HourlyRate, MonthlyRate, PercentSalaryHike, StockOptionLevel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Satisfaction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Environment, Job, Relationship Satisfaction (1–4), WorkLifeBalance (1–4)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Tenure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TotalWorkingYears, NumCompaniesWorked, YearsAtCompany, YearsInCurrentRole, YearsSinceLastPromotion, YearsWithCurrManager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Removed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EmployeeCount, Over18, StandardHours (same value for every row); EmployeeNumber kept as ID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6" name="Picture 5" descr="01_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72546"/>
            <a:ext cx="3840480" cy="2809787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046720" y="3977639"/>
            <a:ext cx="3840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F1F1F"/>
                </a:solidFill>
                <a:latin typeface="Arial"/>
              </a:rPr>
              <a:t>Source: </a:t>
            </a:r>
            <a:r>
              <a:rPr sz="1200" b="0">
                <a:solidFill>
                  <a:srgbClr val="1F1F1F"/>
                </a:solidFill>
                <a:latin typeface="Arial"/>
              </a:rPr>
              <a:t>IBM HR Analytics Employee Attrition &amp; Performance (Kaggle)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F1F1F"/>
                </a:solidFill>
                <a:latin typeface="Arial"/>
              </a:rPr>
              <a:t>Size: </a:t>
            </a:r>
            <a:r>
              <a:rPr sz="1200" b="0">
                <a:solidFill>
                  <a:srgbClr val="1F1F1F"/>
                </a:solidFill>
                <a:latin typeface="Arial"/>
              </a:rPr>
              <a:t>1,470 employees × 35 attributes, no missing values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F1F1F"/>
                </a:solidFill>
                <a:latin typeface="Arial"/>
              </a:rPr>
              <a:t>Imbalance: </a:t>
            </a:r>
            <a:r>
              <a:rPr sz="1200" b="0">
                <a:solidFill>
                  <a:srgbClr val="1F1F1F"/>
                </a:solidFill>
                <a:latin typeface="Arial"/>
              </a:rPr>
              <a:t>237 left (16.1%) — a model that always says "stays" is 84% accurate and useless</a:t>
            </a:r>
          </a:p>
        </p:txBody>
      </p:sp>
    </p:spTree>
  </p:cSld>
  <p:clrMapOvr>
    <a:masterClrMapping/>
  </p:clrMapOvr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Exploratory Analysis with Spark SQL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SELECT factor, COUNT(*), AVG(label) FROM hr GROUP BY factor  —  red bars are above the company-wide attrition rate of 16.1% (dashed line)</a:t>
            </a:r>
          </a:p>
        </p:txBody>
      </p:sp>
      <p:pic>
        <p:nvPicPr>
          <p:cNvPr id="6" name="Picture 5" descr="02_over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19091"/>
            <a:ext cx="4206240" cy="2339656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7" name="Picture 6" descr="03_job_r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34755"/>
            <a:ext cx="4480560" cy="2891208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8" name="Picture 7" descr="07_mari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655086"/>
            <a:ext cx="2926080" cy="1627587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470916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1">
                <a:solidFill>
                  <a:srgbClr val="1F1F1F"/>
                </a:solidFill>
                <a:latin typeface="Arial"/>
              </a:rPr>
              <a:t>Overtime: </a:t>
            </a:r>
            <a:r>
              <a:rPr sz="1300" b="0">
                <a:solidFill>
                  <a:srgbClr val="1F1F1F"/>
                </a:solidFill>
                <a:latin typeface="Arial"/>
              </a:rPr>
              <a:t>30.5% of overtime workers leave vs 10.4% of others — almost 3×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1">
                <a:solidFill>
                  <a:srgbClr val="1F1F1F"/>
                </a:solidFill>
                <a:latin typeface="Arial"/>
              </a:rPr>
              <a:t>Job role: </a:t>
            </a:r>
            <a:r>
              <a:rPr sz="1300" b="0">
                <a:solidFill>
                  <a:srgbClr val="1F1F1F"/>
                </a:solidFill>
                <a:latin typeface="Arial"/>
              </a:rPr>
              <a:t>Sales Representatives 39.8% vs Research Directors 2.5%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1">
                <a:solidFill>
                  <a:srgbClr val="1F1F1F"/>
                </a:solidFill>
                <a:latin typeface="Arial"/>
              </a:rPr>
              <a:t>Marital status: </a:t>
            </a:r>
            <a:r>
              <a:rPr sz="1300" b="0">
                <a:solidFill>
                  <a:srgbClr val="1F1F1F"/>
                </a:solidFill>
                <a:latin typeface="Arial"/>
              </a:rPr>
              <a:t>single 25.5% vs married 12.5%</a:t>
            </a:r>
          </a:p>
        </p:txBody>
      </p:sp>
    </p:spTree>
  </p:cSld>
  <p:clrMapOvr>
    <a:masterClrMapping/>
  </p:clrMapOvr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Exploratory Analysis with Spark SQL (2/2)</a:t>
            </a:r>
          </a:p>
        </p:txBody>
      </p:sp>
      <p:pic>
        <p:nvPicPr>
          <p:cNvPr id="5" name="Picture 4" descr="04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0457"/>
            <a:ext cx="2834640" cy="1576725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6" name="Picture 5" descr="05_ten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200457"/>
            <a:ext cx="2834640" cy="1576725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7" name="Picture 6" descr="06_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715057"/>
            <a:ext cx="2834640" cy="1576725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8" name="Picture 7" descr="09_st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3715057"/>
            <a:ext cx="2834640" cy="1576725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9" name="Picture 8" descr="11_correl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2489" y="868680"/>
            <a:ext cx="4823020" cy="4206240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5120640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1F1F1F"/>
                </a:solidFill>
                <a:latin typeface="Arial"/>
              </a:rPr>
              <a:t>Correlation matrix computed with Spark MLlib. No single variable exceeds |0.17| with attrition, so a multivariate model is needed; income, level and experience are highly collinear.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89788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0000"/>
                </a:solidFill>
                <a:latin typeface="Arial"/>
              </a:rPr>
              <a:t>Highest risk: young, early-tenure, low-income, level-1 employees without stock options</a:t>
            </a:r>
          </a:p>
        </p:txBody>
      </p:sp>
    </p:spTree>
  </p:cSld>
  <p:clrMapOvr>
    <a:masterClrMapping/>
  </p:clrMapOvr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Methodology</a:t>
            </a:r>
          </a:p>
        </p:txBody>
      </p:sp>
      <p:pic>
        <p:nvPicPr>
          <p:cNvPr id="5" name="Picture 4" descr="00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87383"/>
            <a:ext cx="11430000" cy="1974272"/>
          </a:xfrm>
          <a:prstGeom prst="rect">
            <a:avLst/>
          </a:prstGeom>
          <a:ln>
            <a:solidFill>
              <a:srgbClr val="D0D0D0"/>
            </a:solidFill>
          </a:ln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017520"/>
          <a:ext cx="11064240" cy="3145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8686800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What was done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Data processing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PySpark DataFrames; constant columns removed; label encoded; numerics cast to double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Feature engineering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IncomePerJobLevel, TenureRatio, YearsPerCompany, PromotionGap, SatisfactionIndex (SQLTransformer)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Data split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Stratified 85 / 15, hash-based so it is identical on every run: 1249 development · 221 test (used once)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Class imbalance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Leavers weighted by stayers / leavers ratio (≈5.2) through MLlib weightCol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Tuning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CrossValidator, 5 folds, ROC-AUC, ParamGridBuilder grid per model, parallelism 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Selection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Best model by CV AUC; threshold that maximises F1 on out-of-fold predictions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Final evaluation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Test set used once: AUC, accuracy, precision, recall, F1, confusion matrix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System Architecture</a:t>
            </a:r>
          </a:p>
        </p:txBody>
      </p:sp>
      <p:pic>
        <p:nvPicPr>
          <p:cNvPr id="5" name="Picture 4" descr="00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24" y="868680"/>
            <a:ext cx="10956471" cy="5577840"/>
          </a:xfrm>
          <a:prstGeom prst="rect">
            <a:avLst/>
          </a:prstGeom>
          <a:ln>
            <a:solidFill>
              <a:srgbClr val="D0D0D0"/>
            </a:solidFill>
          </a:ln>
        </p:spPr>
      </p:pic>
    </p:spTree>
  </p:cSld>
  <p:clrMapOvr>
    <a:masterClrMapping/>
  </p:clrMapOvr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Spark MLlib Pipeline &amp; Models</a:t>
            </a:r>
          </a:p>
        </p:txBody>
      </p:sp>
      <p:pic>
        <p:nvPicPr>
          <p:cNvPr id="5" name="Picture 4" descr="00_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868680"/>
            <a:ext cx="11315700" cy="2057400"/>
          </a:xfrm>
          <a:prstGeom prst="rect">
            <a:avLst/>
          </a:prstGeom>
          <a:ln>
            <a:solidFill>
              <a:srgbClr val="D0D0D0"/>
            </a:solidFill>
          </a:ln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063240"/>
          <a:ext cx="11064240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760"/>
                <a:gridCol w="4572000"/>
                <a:gridCol w="38404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Hyper-parameter grid (5-fold CV)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Best parameters found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regParam {0.001, 0.01, 0.1} × elasticNet {0, 0.5, 1}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regParam=0.01, elasticNetParam=0.5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Decision Tree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maxDepth {3, 5, 7} × minInstancesPerNode {5, 20}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maxDepth=7, minInstancesPerNode=20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numTrees {100, 200} × maxDepth {5, 8}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numTrees=200, maxDepth=8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Gradient-Boosted Trees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maxIter {50, 100} × maxDepth {3, 5}, stepSize 0.1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Arial"/>
                        </a:rPr>
                        <a:t>maxIter=100, maxDepth=3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The whole pipeline (not only the classifier) is cross-validated, so encoders and the scaler are re-fitted inside every fold — no information leaks from the held-out folds. The saved PipelineModel accepts raw HR records directly.</a:t>
            </a:r>
          </a:p>
        </p:txBody>
      </p:sp>
    </p:spTree>
  </p:cSld>
  <p:clrMapOvr>
    <a:masterClrMapping/>
  </p:clrMapOvr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Results — Model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667512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Arial"/>
                        </a:rPr>
                        <a:t>CV AUC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Arial"/>
                        </a:rPr>
                        <a:t>OOF AUC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Arial"/>
                        </a:rPr>
                        <a:t>Test AUC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Arial"/>
                        </a:rPr>
                        <a:t>Acc.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Arial"/>
                        </a:rPr>
                        <a:t>Prec.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Arial"/>
                        </a:rPr>
                        <a:t>Thr.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F1F"/>
                          </a:solidFill>
                          <a:latin typeface="Arial"/>
                        </a:rPr>
                        <a:t>Logistic Regression  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0.843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F1F"/>
                          </a:solidFill>
                          <a:latin typeface="Arial"/>
                        </a:rPr>
                        <a:t>Decision Tree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0.679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0.737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0.807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0.805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0.431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0.611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0.506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0.67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F1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0.38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F1F"/>
                          </a:solidFill>
                          <a:latin typeface="Arial"/>
                        </a:rPr>
                        <a:t>Gradient-Boosted Trees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0.774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0.772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0.827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0.833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0.488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0.556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0.519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Arial"/>
                        </a:rPr>
                        <a:t>0.54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6" name="Picture 5" descr="14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033956"/>
            <a:ext cx="4663440" cy="2412647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34290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Selected model: 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112471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Highest cross-validated AUC (0.839) → chosen; test AUC 0.813 on 221 unseen employees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Finds 56% of the employees who actually left, with precision 53% and F1 54% (threshold 0.68)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Model and threshold were chosen on development data only — the test numbers are an unbiased estimate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CV AUC = mean of 5 folds; OOF = out-of-fold predictions; test metrics at each model's tuned threshold</a:t>
            </a:r>
          </a:p>
        </p:txBody>
      </p:sp>
    </p:spTree>
  </p:cSld>
  <p:clrMapOvr>
    <a:masterClrMapping/>
  </p:clrMapOvr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Results — ROC Curves &amp; Confusion Matrix</a:t>
            </a:r>
          </a:p>
        </p:txBody>
      </p:sp>
      <p:pic>
        <p:nvPicPr>
          <p:cNvPr id="5" name="Picture 4" descr="12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2094"/>
            <a:ext cx="3931920" cy="3205010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6" name="Picture 5" descr="13_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12094"/>
            <a:ext cx="3931920" cy="3205010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7" name="Picture 6" descr="15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977629"/>
            <a:ext cx="3657600" cy="3073940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389120"/>
            <a:ext cx="11064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Of 36 test employees who left, the model correctly flagged 20 and missed 16.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Of 185 who stayed, it cleared 167 and raised 18 false alarms.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Every model ranks employees far better than chance (diagonal). HR can move the threshold to trade precision for recall.</a:t>
            </a:r>
          </a:p>
        </p:txBody>
      </p:sp>
    </p:spTree>
  </p:cSld>
  <p:clrMapOvr>
    <a:masterClrMapping/>
  </p:clrMapOvr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Key Drivers of Attrition</a:t>
            </a:r>
          </a:p>
        </p:txBody>
      </p:sp>
      <p:pic>
        <p:nvPicPr>
          <p:cNvPr id="5" name="Picture 4" descr="16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72438"/>
            <a:ext cx="5852160" cy="4530243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What the model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394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1. YearsSinceLastPromotion  (▲ raises risk)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2. SatisfactionIndex  (▼ lowers risk)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3. OverTime = Yes  (▲ raises risk)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4. BusinessTravel = Travel_Frequently  (▲ raises risk)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5. YearsWithCurrManager  (▼ lowers risk)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6. NumCompaniesWorked  (▲ raises risk)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7. YearsInCurrentRole  (▼ lowers risk)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8. DistanceFromHome  (▲ raises risk)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94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Explaining one employee (what-if)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60520"/>
            <a:ext cx="5394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For each factor, the app sets it to the typical value of employees who stayed and re-scores with Spark. The drop in leave probability = that factor's contribution, shown with a suggested HR action.</a:t>
            </a:r>
          </a:p>
        </p:txBody>
      </p:sp>
    </p:spTree>
  </p:cSld>
  <p:clrMapOvr>
    <a:masterClrMapping/>
  </p:clrMapOvr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Big Data — Scalability Test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5486400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/>
                <a:gridCol w="2286000"/>
                <a:gridCol w="91440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Rows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Fit (s)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Score (s)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1,470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22.1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1,470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14,700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11.9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14,700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8.5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73,500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10.8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73,500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13.1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294,000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294,000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27.0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735,000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27.2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3.8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735,000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53.7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6" name="Picture 5" descr="17_sca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68692"/>
            <a:ext cx="5669280" cy="3366135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4572000"/>
            <a:ext cx="5669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•  </a:t>
            </a:r>
            <a:r>
              <a:rPr sz="1250" b="0">
                <a:solidFill>
                  <a:srgbClr val="1F1F1F"/>
                </a:solidFill>
                <a:latin typeface="Arial"/>
              </a:rPr>
              <a:t>Data enlarged up to 500× (≈735,000 rows) with ±5% noise on numeric columns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•  </a:t>
            </a:r>
            <a:r>
              <a:rPr sz="1250" b="0">
                <a:solidFill>
                  <a:srgbClr val="1F1F1F"/>
                </a:solidFill>
                <a:latin typeface="Arial"/>
              </a:rPr>
              <a:t>Same Spark pipeline, no code change at any size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•  </a:t>
            </a:r>
            <a:r>
              <a:rPr sz="1250" b="0">
                <a:solidFill>
                  <a:srgbClr val="1F1F1F"/>
                </a:solidFill>
                <a:latin typeface="Arial"/>
              </a:rPr>
              <a:t>Time grows far slower than data: Spark uses every core; on a cluster, every machine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•  </a:t>
            </a:r>
            <a:r>
              <a:rPr sz="1250" b="0">
                <a:solidFill>
                  <a:srgbClr val="1F1F1F"/>
                </a:solidFill>
                <a:latin typeface="Arial"/>
              </a:rPr>
              <a:t>First (smallest) run includes Spark start-up and JVM warm-up</a:t>
            </a:r>
          </a:p>
        </p:txBody>
      </p:sp>
    </p:spTree>
  </p:cSld>
  <p:clrMapOvr>
    <a:masterClrMapping/>
  </p:clrMapOvr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Web Application — HR Dashboard &amp; Prediction</a:t>
            </a:r>
          </a:p>
        </p:txBody>
      </p:sp>
      <p:pic>
        <p:nvPicPr>
          <p:cNvPr id="5" name="Picture 4" descr="01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086" y="868680"/>
            <a:ext cx="3880906" cy="5120640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6" name="Picture 5" descr="03_predict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20874"/>
            <a:ext cx="5715000" cy="3016250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0040" y="6035040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HR Dashboard: KPIs and filters (department, gender, overtime)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6035040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Single prediction: risk gauge, drivers and suggested HR actions</a:t>
            </a:r>
          </a:p>
        </p:txBody>
      </p:sp>
    </p:spTree>
  </p:cSld>
  <p:clrMapOvr>
    <a:masterClrMapping/>
  </p:clrMapOvr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Web Application — Batch Scoring &amp; Model Performance</a:t>
            </a:r>
          </a:p>
        </p:txBody>
      </p:sp>
      <p:pic>
        <p:nvPicPr>
          <p:cNvPr id="5" name="Picture 4" descr="04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" y="868680"/>
            <a:ext cx="4915814" cy="5120640"/>
          </a:xfrm>
          <a:prstGeom prst="rect">
            <a:avLst/>
          </a:prstGeom>
          <a:ln>
            <a:solidFill>
              <a:srgbClr val="D0D0D0"/>
            </a:solidFill>
          </a:ln>
        </p:spPr>
      </p:pic>
      <p:pic>
        <p:nvPicPr>
          <p:cNvPr id="6" name="Picture 5" descr="05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792" y="868680"/>
            <a:ext cx="4915814" cy="5120640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0040" y="6035040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Batch prediction: upload CSV → risk bands → download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6035040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Model performance page: comparison, ROC, confusion matrix</a:t>
            </a:r>
          </a:p>
        </p:txBody>
      </p:sp>
    </p:spTree>
  </p:cSld>
  <p:clrMapOvr>
    <a:masterClrMapping/>
  </p:clrMapOvr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Business Insights &amp; Recommendations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11247120" cy="4535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0640"/>
                <a:gridCol w="61264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Finding (from Spark analysis)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Recommended HR action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Overtime workers leave at 30.5% vs 10.4%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Track overtime hours; rebalance workload or add headcount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First two years at the company: 34.9% attrition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Structured onboarding, buddy programme, 30/60/90-day check-ins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Income under 3k: 28.6%; job level 1: 26.3%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Benchmark entry-level pay; publish progression paths from level 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No stock options: 24.4% attrition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Stock options or retention bonus for high performers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Frequent travellers: 24.9%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Rotate travel duties; travel allowance or remote options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Low job satisfaction: 22.8%; bad work-life balance: 31.3%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Pulse surveys, stay interviews, flexible hours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Sales Representatives: 39.8%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Targeted retention plan: incentives, coaching, career path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Built a complete, working attrition prediction system on Apache Spark — from Spark SQL analysis to a deployed web app.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Logistic Regression selected: test ROC-AUC 0.813, recall 56%, F1 54%.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Overtime, income / level, tenure, stock options, travel and satisfaction drive attrition — most are actionable.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Every prediction comes with its drivers and a suggested HR action.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The same pipeline runs unchanged on ~735k rows — ready for real big-data volumes.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All six objectives met.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868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Train on an organisation's own HR data with monthly snapshots (trends, not one snapshot)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Join attendance, leave, survey and performance data in Spark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Deploy on a Spark cluster (Databricks / EMR) with scheduled retraining and drift monitoring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SHAP explanations to capture interactions between factors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Fairness audit across gender and age before real 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•  </a:t>
            </a:r>
            <a:r>
              <a:rPr sz="1300" b="0">
                <a:solidFill>
                  <a:srgbClr val="1F1F1F"/>
                </a:solidFill>
                <a:latin typeface="Arial"/>
              </a:rPr>
              <a:t>Survival analysis: predict when an employee may leave</a:t>
            </a:r>
          </a:p>
        </p:txBody>
      </p:sp>
    </p:spTree>
  </p:cSld>
  <p:clrMapOvr>
    <a:masterClrMapping/>
  </p:clrMapOvr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GitHub Repository &amp; How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Arial"/>
              </a:rPr>
              <a:t>github.com/varunmundhada/employee-attrition-prediction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658368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4572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Folder / file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Contents</a:t>
                      </a:r>
                    </a:p>
                  </a:txBody>
                  <a:tcPr marL="64008" marR="64008" marT="27432" marB="27432" anchor="ctr">
                    <a:solidFill>
                      <a:srgbClr val="FFC00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src/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config, Spark session, preprocessing, EDA, training, prediction, scalability benchmark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app/streamlit_app.py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Web application: dashboard, single and batch prediction, model performance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models/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Saved Spark PipelineModel, metrics.json, eda_summary.json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reports/figures/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All generated charts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tests/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pytest tests for cleaning, split and predictor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report/ · ppt/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F1F1F"/>
                          </a:solidFill>
                          <a:latin typeface="Arial"/>
                        </a:rPr>
                        <a:t>LaTeX project report (SIT format) and this presentation</a:t>
                      </a:r>
                    </a:p>
                  </a:txBody>
                  <a:tcPr marL="64008" marR="64008" marT="27432" marB="27432" anchor="ctr">
                    <a:solidFill>
                      <a:srgbClr val="FFF6E0"/>
                    </a:solidFill>
                    <a:lnL w="9525">
                      <a:solidFill>
                        <a:srgbClr val="C9A227"/>
                      </a:solidFill>
                    </a:lnL>
                    <a:lnR w="9525">
                      <a:solidFill>
                        <a:srgbClr val="C9A227"/>
                      </a:solidFill>
                    </a:lnR>
                    <a:lnT w="9525">
                      <a:solidFill>
                        <a:srgbClr val="C9A227"/>
                      </a:solidFill>
                    </a:lnT>
                    <a:lnB w="9525">
                      <a:solidFill>
                        <a:srgbClr val="C9A22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325880"/>
            <a:ext cx="4389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F1F1F"/>
                </a:solidFill>
                <a:latin typeface="Arial"/>
              </a:rPr>
              <a:t>Run it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setup.bat — create venv, install packages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run_pipeline.bat — EDA + training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run_app.bat — open http://localhost:8501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1F1F"/>
                </a:solidFill>
                <a:latin typeface="Arial"/>
              </a:rPr>
              <a:t>Or manually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pip install -r requirements.txt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python -m src.eda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python -m src.train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streamlit run app/streamlit_app.py</a:t>
            </a:r>
          </a:p>
        </p:txBody>
      </p:sp>
    </p:spTree>
  </p:cSld>
  <p:clrMapOvr>
    <a:masterClrMapping/>
  </p:clrMapOvr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sz="2800" b="1">
                <a:solidFill>
                  <a:srgbClr val="FF0000"/>
                </a:solidFill>
                <a:latin typeface="Times New Roman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1.  D. G. Allen, P. C. Bryant and J. M. Vardaman, "Retaining talent: Replacing misconceptions with evidence-based strategies," Academy of Management Perspectives, vol. 24, no. 2, pp. 48–64, 2010.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2.  V. V. Saradhi and G. K. Palshikar, "Employee churn prediction," Expert Systems with Applications, vol. 38, no. 3, pp. 1999–2006, 2011.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3.  D. Alao and A. B. Adeyemo, "Analyzing employee attrition using decision tree algorithms," CISDIAR Journal, vol. 4, no. 1, pp. 17–28, 2013.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4.  R. Punnoose and P. Ajit, "Prediction of employee turnover in organizations using machine learning algorithms," IJARAI, vol. 5, no. 9, 2016.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5.  Y. Zhao et al., "Employee turnover prediction with machine learning: A reliable approach," IntelliSys 2018, AISC vol. 869, Springer, 2019.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6.  F. Fallucchi et al., "Predicting employee attrition using machine learning techniques," Computers, vol. 9, no. 4, p. 86, 2020.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7.  N. B. Yahia, J. Hlel and R. Colomo-Palacios, "From big data to deep data to support people analytics for employee attrition prediction," IEEE Access, vol. 9, 2021.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8.  M. Zaharia et al., "Apache Spark: A unified engine for big data processing," Communications of the ACM, vol. 59, no. 11, 2016.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9.  X. Meng et al., "MLlib: Machine learning in Apache Spark," JMLR, vol. 17, no. 34, 2016.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F1F1F"/>
                </a:solidFill>
                <a:latin typeface="Arial"/>
              </a:rPr>
              <a:t>10.  IBM, "IBM HR Analytics Employee Attrition &amp; Performance," Kaggle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1872</TotalTime>
  <Words>3105</Words>
  <Application>Microsoft Office PowerPoint</Application>
  <PresentationFormat>Widescreen</PresentationFormat>
  <Paragraphs>510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Office Theme</vt:lpstr>
      <vt:lpstr>PowerPoint Presentation</vt:lpstr>
      <vt:lpstr>Presentation Outline: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Varun Mundhada</cp:lastModifiedBy>
  <cp:revision>15</cp:revision>
  <dcterms:created xsi:type="dcterms:W3CDTF">2024-06-03T04:50:00Z</dcterms:created>
  <dcterms:modified xsi:type="dcterms:W3CDTF">2026-09-13T13:09:14Z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B27E9DBD0FEB4367A7E877179D3BEDF1_12</vt:lpwstr>
  </property>
  <property fmtid="{D5CDD505-2E9C-101B-9397-08002B2CF9AE}" pid="3" name="KSOProductBuildVer">
    <vt:lpwstr>1033-12.1.0.28032</vt:lpwstr>
  </property>
</Properties>
</file>